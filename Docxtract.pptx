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4D9DFF"/>
                </a:solidFill>
                <a:latin typeface="Calibri"/>
              </a:rPr>
              <a:t>SELECTED TOPICS IN DATA SCIENCE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>
                <a:solidFill>
                  <a:srgbClr val="E6EDF5"/>
                </a:solidFill>
                <a:latin typeface="Calibri"/>
              </a:rPr>
              <a:t>Docxtract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2DD4BF"/>
                </a:solidFill>
                <a:latin typeface="Calibri"/>
              </a:rPr>
              <a:t>NLP Document Intelligence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9AA8BD"/>
                </a:solidFill>
                <a:latin typeface="Calibri"/>
              </a:rPr>
              <a:t>Unstructured documents → validated JSON.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01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9AA8BD"/>
                </a:solidFill>
                <a:latin typeface="Calibri"/>
              </a:rPr>
              <a:t>Business data is trapped inside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657600" cy="22860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4D9DFF"/>
                </a:solidFill>
                <a:latin typeface="Calibri"/>
              </a:rPr>
              <a:t>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E6EDF5"/>
                </a:solidFill>
                <a:latin typeface="Calibri"/>
              </a:rPr>
              <a:t>Manual data entry doesn't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017520"/>
            <a:ext cx="3657600" cy="22860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4D9DFF"/>
                </a:solidFill>
                <a:latin typeface="Calibri"/>
              </a:rPr>
              <a:t>Messy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E6EDF5"/>
                </a:solidFill>
                <a:latin typeface="Calibri"/>
              </a:rPr>
              <a:t>Every layout is different.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17520"/>
            <a:ext cx="3657600" cy="22860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291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4D9DFF"/>
                </a:solidFill>
                <a:latin typeface="Calibri"/>
              </a:rPr>
              <a:t>Noisy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E6EDF5"/>
                </a:solidFill>
                <a:latin typeface="Calibri"/>
              </a:rPr>
              <a:t>OCR alone gives you raw text — not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Docxtract automates the whole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02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Multi-model NLP pipeline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Real-time progress tracking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Human-in-the-loop review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JSON &amp; CSV export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Premium dark-mode UI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24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E6EDF5"/>
                </a:solidFill>
                <a:latin typeface="Calibri"/>
              </a:rPr>
              <a:t>Fully containerized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03  · 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72800" cy="73152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Frontend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972800" cy="73152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4D9DFF"/>
                </a:solidFill>
                <a:latin typeface="Calibri"/>
              </a:rPr>
              <a:t>FastAPI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3611880" cy="9144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4D9DFF"/>
                </a:solidFill>
                <a:latin typeface="Calibri"/>
              </a:rPr>
              <a:t>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9AA8BD"/>
                </a:solidFill>
                <a:latin typeface="Calibri"/>
              </a:rPr>
              <a:t>Tesseract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611880" cy="9144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3977639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4D9DFF"/>
                </a:solidFill>
                <a:latin typeface="Calibri"/>
              </a:rPr>
              <a:t>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343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9AA8BD"/>
                </a:solidFill>
                <a:latin typeface="Calibri"/>
              </a:rPr>
              <a:t>spaCy + 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611880" cy="9144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3977639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4D9DFF"/>
                </a:solidFill>
                <a:latin typeface="Calibri"/>
              </a:rPr>
              <a:t>Regex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9AA8BD"/>
                </a:solidFill>
                <a:latin typeface="Calibri"/>
              </a:rPr>
              <a:t>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5394960" cy="9144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5A624"/>
                </a:solidFill>
                <a:latin typeface="Calibri"/>
              </a:rPr>
              <a:t>MinIO —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37760"/>
            <a:ext cx="5394960" cy="9144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51663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5A624"/>
                </a:solidFill>
                <a:latin typeface="Calibri"/>
              </a:rPr>
              <a:t>PostgreSQL —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04  · 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6-Phase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4D9D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4D9D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2DD4B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2DD4B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5A624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Mapping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377440"/>
            <a:ext cx="1828800" cy="219456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2743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5A624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657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E6EDF5"/>
                </a:solidFill>
                <a:latin typeface="Calibri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Calibri"/>
              </a:rPr>
              <a:t>Live progress via Server-Sent Events.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05  · 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What Each Phase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8424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E6EDF5"/>
                </a:solidFill>
                <a:latin typeface="Calibri"/>
              </a:rPr>
              <a:t>PDF · DOCX ·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6148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E6EDF5"/>
                </a:solidFill>
                <a:latin typeface="Calibri"/>
              </a:rPr>
              <a:t>Clean · dedupe · detect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3872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E6EDF5"/>
                </a:solidFill>
                <a:latin typeface="Calibri"/>
              </a:rPr>
              <a:t>spaCy + Transformer + regex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1596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E6EDF5"/>
                </a:solidFill>
                <a:latin typeface="Calibri"/>
              </a:rPr>
              <a:t>Project onto typed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932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E6EDF5"/>
                </a:solidFill>
                <a:latin typeface="Calibri"/>
              </a:rPr>
              <a:t>Required fields + QC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06  ·  DOMAIN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Supported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72800" cy="109728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4D9DFF"/>
                </a:solidFill>
                <a:latin typeface="Calibri"/>
              </a:rPr>
              <a:t>Business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8716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BD"/>
                </a:solidFill>
                <a:latin typeface="Calibri"/>
              </a:rPr>
              <a:t>name · email · phone · company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972800" cy="109728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Resume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6732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BD"/>
                </a:solidFill>
                <a:latin typeface="Calibri"/>
              </a:rPr>
              <a:t>name · email · skills ·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972800" cy="109728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5A624"/>
                </a:solidFill>
                <a:latin typeface="Calibri"/>
              </a:rPr>
              <a:t>Medical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4748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BD"/>
                </a:solidFill>
                <a:latin typeface="Calibri"/>
              </a:rPr>
              <a:t>patient · visit date · diagnoses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07  · 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Two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212080" cy="27432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Calibri"/>
              </a:rPr>
              <a:t>✓ 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E6EDF5"/>
                </a:solidFill>
                <a:latin typeface="Calibri"/>
              </a:rPr>
              <a:t>All required fields present.
High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212080" cy="27432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F5A624"/>
                </a:solidFill>
                <a:latin typeface="Calibri"/>
              </a:rPr>
              <a:t>⚠  Needs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E6EDF5"/>
                </a:solidFill>
                <a:latin typeface="Calibri"/>
              </a:rPr>
              <a:t>Missing fields or low confidence.
Human corrects in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08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Input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4D9DFF"/>
                </a:solidFill>
                <a:latin typeface="Calibri"/>
              </a:rP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6576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A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E6EDF5"/>
                </a:solidFill>
                <a:latin typeface="Consolas"/>
              </a:rPr>
              <a:t>Richard Hendricks
CEO &amp; Founder
Pied Piper Inc.
(415) 555-0142
richard@piedpiper.com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94960" cy="365760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E6EDF5"/>
                </a:solidFill>
                <a:latin typeface="Consolas"/>
              </a:rPr>
              <a:t>{
  "name":    "Richard Hendricks",
  "title":   "CEO &amp; Founder",
  "company": "Pied Piper Inc.",
  "phone":   "+14155550142",
  "email":   "richard@piedpiper.com"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09  ·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3108960" cy="237744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>
                <a:solidFill>
                  <a:srgbClr val="4D9DFF"/>
                </a:solidFill>
                <a:latin typeface="Calibri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E6EDF5"/>
                </a:solidFill>
                <a:latin typeface="Calibri"/>
              </a:rPr>
              <a:t>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108960" cy="237744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>
                <a:solidFill>
                  <a:srgbClr val="2DD4BF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E6EDF5"/>
                </a:solidFill>
                <a:latin typeface="Calibri"/>
              </a:rPr>
              <a:t>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194560"/>
            <a:ext cx="3108960" cy="2377440"/>
          </a:xfrm>
          <a:prstGeom prst="roundRect">
            <a:avLst/>
          </a:prstGeom>
          <a:solidFill>
            <a:srgbClr val="182232"/>
          </a:solidFill>
          <a:ln w="12700">
            <a:solidFill>
              <a:srgbClr val="F5A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2468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>
                <a:solidFill>
                  <a:srgbClr val="F5A624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40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E6EDF5"/>
                </a:solidFill>
                <a:latin typeface="Calibri"/>
              </a:rPr>
              <a:t>pass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Calibri"/>
              </a:rPr>
              <a:t>Every phase covered, plus end-to-end.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10  · 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D9DFF"/>
                </a:solidFill>
                <a:latin typeface="Calibri"/>
              </a:rP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240280"/>
            <a:ext cx="1197864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4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4D9DFF"/>
                </a:solidFill>
                <a:latin typeface="Calibri"/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2240280"/>
            <a:ext cx="1344168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4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4D9DFF"/>
                </a:solidFill>
                <a:latin typeface="Calibri"/>
              </a:rP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2240280"/>
            <a:ext cx="1490472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4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4D9DFF"/>
                </a:solidFill>
                <a:latin typeface="Calibri"/>
              </a:rPr>
              <a:t>Pydantic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NLP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108960"/>
            <a:ext cx="1097280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spaCy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08960"/>
            <a:ext cx="2075688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7688" y="3108960"/>
            <a:ext cx="1636776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Tesseract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5A624"/>
                </a:solidFill>
                <a:latin typeface="Calibri"/>
              </a:rPr>
              <a:t>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977640"/>
            <a:ext cx="1783080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F5A624"/>
                </a:solidFill>
                <a:latin typeface="Calibri"/>
              </a:rP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977640"/>
            <a:ext cx="1097280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F5A624"/>
                </a:solidFill>
                <a:latin typeface="Calibri"/>
              </a:rPr>
              <a:t>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D9DFF"/>
                </a:solidFill>
                <a:latin typeface="Calibri"/>
              </a:rPr>
              <a:t>DevOps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846320"/>
            <a:ext cx="1197864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4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4D9DFF"/>
                </a:solidFill>
                <a:latin typeface="Calibri"/>
              </a:rPr>
              <a:t>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9704" y="4846320"/>
            <a:ext cx="1197864" cy="365760"/>
          </a:xfrm>
          <a:prstGeom prst="roundRect">
            <a:avLst/>
          </a:prstGeom>
          <a:solidFill>
            <a:srgbClr val="182232"/>
          </a:solidFill>
          <a:ln w="15875">
            <a:solidFill>
              <a:srgbClr val="4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>
                <a:solidFill>
                  <a:srgbClr val="4D9DFF"/>
                </a:solidFill>
                <a:latin typeface="Calibri"/>
              </a:rPr>
              <a:t>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11  · 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Messy real-world layouts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OCR noise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NER models disagreeing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Knowing when not to trust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4D9DFF"/>
                </a:solidFill>
                <a:latin typeface="Calibri"/>
              </a:rPr>
              <a:t>12  ·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6EDF5"/>
                </a:solidFill>
                <a:latin typeface="Calibri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280160" cy="36576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More document types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Multilingual support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Active learning from reviewer corrections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600" b="1" dirty="0">
                <a:solidFill>
                  <a:srgbClr val="4D9DFF"/>
                </a:solidFill>
                <a:latin typeface="Calibri"/>
              </a:rPr>
              <a:t>▸  </a:t>
            </a:r>
            <a:r>
              <a:rPr sz="2600" dirty="0">
                <a:solidFill>
                  <a:srgbClr val="E6EDF5"/>
                </a:solidFill>
                <a:latin typeface="Calibri"/>
              </a:rPr>
              <a:t>Async batch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BD"/>
                </a:solidFill>
                <a:latin typeface="Calibri"/>
              </a:rPr>
              <a:t>Docxtract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8BD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>
                <a:solidFill>
                  <a:srgbClr val="E6EDF5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>
                <a:solidFill>
                  <a:srgbClr val="2DD4B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453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Tarek Mahmoud Ahmed ELGanainy 2100561</cp:lastModifiedBy>
  <cp:revision>2</cp:revision>
  <dcterms:created xsi:type="dcterms:W3CDTF">2013-01-27T09:14:16Z</dcterms:created>
  <dcterms:modified xsi:type="dcterms:W3CDTF">2026-05-11T17:37:48Z</dcterms:modified>
  <cp:category/>
</cp:coreProperties>
</file>